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09728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0F4FF"/>
                </a:solidFill>
              </a:rPr>
              <a:t>CENTAURO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749808"/>
            <a:ext cx="2560320" cy="36576"/>
          </a:xfrm>
          <a:prstGeom prst="rect">
            <a:avLst/>
          </a:prstGeom>
          <a:solidFill>
            <a:srgbClr val="0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80467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B"/>
                </a:solidFill>
              </a:rPr>
              <a:t>Sistema de Inteligencia Artificial para la Evaluación y Coaching de Asesores de Ventas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164592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0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0" y="182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Impulsado por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0424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CEBB"/>
                </a:solidFill>
              </a:rPr>
              <a:t>COMO FUNCIONA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280160"/>
            <a:ext cx="11603736" cy="18288"/>
          </a:xfrm>
          <a:prstGeom prst="rect">
            <a:avLst/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" y="1335024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" y="1298448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524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1353312"/>
            <a:ext cx="18031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E35B1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" y="1773936"/>
            <a:ext cx="1803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3F4"/>
                </a:solidFill>
              </a:rPr>
              <a:t>INGESTA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2103120"/>
            <a:ext cx="18031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B"/>
                </a:solidFill>
              </a:rPr>
              <a:t>Video o audio
de la llamada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3145536"/>
            <a:ext cx="1940356" cy="73152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342692" y="2185416"/>
            <a:ext cx="256032" cy="146304"/>
          </a:xfrm>
          <a:prstGeom prst="chevron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5028" y="1335024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08452" y="1298448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5240">
            <a:solidFill>
              <a:srgbClr val="0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8180" y="1353312"/>
            <a:ext cx="18031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8A80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8180" y="1773936"/>
            <a:ext cx="1803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CEBB"/>
                </a:solidFill>
              </a:rPr>
              <a:t>TRANSCRIPCION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8180" y="2103120"/>
            <a:ext cx="18031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B"/>
                </a:solidFill>
              </a:rPr>
              <a:t>Texto preciso con
Groq Whisper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8452" y="3145536"/>
            <a:ext cx="1940356" cy="73152"/>
          </a:xfrm>
          <a:prstGeom prst="rect">
            <a:avLst/>
          </a:prstGeom>
          <a:solidFill>
            <a:srgbClr val="0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4758537" y="2185416"/>
            <a:ext cx="256032" cy="146304"/>
          </a:xfrm>
          <a:prstGeom prst="chevron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60873" y="1335024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24297" y="1298448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5240">
            <a:solidFill>
              <a:srgbClr val="C87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4025" y="1353312"/>
            <a:ext cx="18031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7008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4025" y="1773936"/>
            <a:ext cx="1803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A623"/>
                </a:solidFill>
              </a:rPr>
              <a:t>DIARIZACION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4025" y="2103120"/>
            <a:ext cx="18031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B"/>
                </a:solidFill>
              </a:rPr>
              <a:t>Identifica quién
habla: asesor /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4297" y="3145536"/>
            <a:ext cx="1940356" cy="73152"/>
          </a:xfrm>
          <a:prstGeom prst="rect">
            <a:avLst/>
          </a:prstGeom>
          <a:solidFill>
            <a:srgbClr val="C87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7174382" y="2185416"/>
            <a:ext cx="256032" cy="146304"/>
          </a:xfrm>
          <a:prstGeom prst="chevron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76718" y="1335024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40142" y="1298448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5240">
            <a:solidFill>
              <a:srgbClr val="1D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49870" y="1353312"/>
            <a:ext cx="18031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4FBF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9870" y="1773936"/>
            <a:ext cx="1803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09AFF"/>
                </a:solidFill>
              </a:rPr>
              <a:t>ANALISIS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9870" y="2103120"/>
            <a:ext cx="18031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B"/>
                </a:solidFill>
              </a:rPr>
              <a:t>6 agentes evalúan
la conversación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0142" y="3145536"/>
            <a:ext cx="1940356" cy="73152"/>
          </a:xfrm>
          <a:prstGeom prst="rect">
            <a:avLst/>
          </a:prstGeom>
          <a:solidFill>
            <a:srgbClr val="1D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evron 36"/>
          <p:cNvSpPr/>
          <p:nvPr/>
        </p:nvSpPr>
        <p:spPr>
          <a:xfrm>
            <a:off x="9590227" y="2185416"/>
            <a:ext cx="256032" cy="146304"/>
          </a:xfrm>
          <a:prstGeom prst="chevron">
            <a:avLst/>
          </a:prstGeom>
          <a:solidFill>
            <a:srgbClr val="4A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92563" y="1335024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55987" y="1298448"/>
            <a:ext cx="1940356" cy="192024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5240">
            <a:solidFill>
              <a:srgbClr val="09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65715" y="1353312"/>
            <a:ext cx="18031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97A55"/>
                </a:solidFill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5715" y="1773936"/>
            <a:ext cx="18031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D18A"/>
                </a:solidFill>
              </a:rPr>
              <a:t>INFORME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65715" y="2103120"/>
            <a:ext cx="18031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9BBB"/>
                </a:solidFill>
              </a:rPr>
              <a:t>PDF con notas
de coaching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55987" y="3145536"/>
            <a:ext cx="1940356" cy="73152"/>
          </a:xfrm>
          <a:prstGeom prst="rect">
            <a:avLst/>
          </a:prstGeom>
          <a:solidFill>
            <a:srgbClr val="09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328269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CEBB"/>
                </a:solidFill>
              </a:rPr>
              <a:t>QUE EVALUA CENTAURO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3520440"/>
            <a:ext cx="11603736" cy="18288"/>
          </a:xfrm>
          <a:prstGeom prst="rect">
            <a:avLst/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20040" y="3566160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92608" y="3538728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016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2608" y="3538728"/>
            <a:ext cx="1796796" cy="201168"/>
          </a:xfrm>
          <a:prstGeom prst="rect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3776472"/>
            <a:ext cx="1796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3F4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" y="4069080"/>
            <a:ext cx="17053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F4FF"/>
                </a:solidFill>
              </a:rPr>
              <a:t>Investigacion
del Cliente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" y="4544568"/>
            <a:ext cx="17053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B"/>
                </a:solidFill>
              </a:rPr>
              <a:t>Preparación
previa a la llamada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81428" y="3566160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253996" y="3538728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0160">
            <a:solidFill>
              <a:srgbClr val="0F8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53996" y="3538728"/>
            <a:ext cx="1796796" cy="201168"/>
          </a:xfrm>
          <a:prstGeom prst="rect">
            <a:avLst/>
          </a:prstGeom>
          <a:solidFill>
            <a:srgbClr val="0F8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36292" y="3776472"/>
            <a:ext cx="1796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EBB"/>
                </a:solidFill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6292" y="4069080"/>
            <a:ext cx="17053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F4FF"/>
                </a:solidFill>
              </a:rPr>
              <a:t>Admision
Economica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36292" y="4544568"/>
            <a:ext cx="17053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B"/>
                </a:solidFill>
              </a:rPr>
              <a:t>Solvencia y
encaje financiero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42816" y="3566160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215384" y="3538728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0160">
            <a:solidFill>
              <a:srgbClr val="C87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15384" y="3538728"/>
            <a:ext cx="1796796" cy="201168"/>
          </a:xfrm>
          <a:prstGeom prst="rect">
            <a:avLst/>
          </a:prstGeom>
          <a:solidFill>
            <a:srgbClr val="C87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0" y="3776472"/>
            <a:ext cx="1796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4069080"/>
            <a:ext cx="17053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F4FF"/>
                </a:solidFill>
              </a:rPr>
              <a:t>Manejo de
Objeciones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0" y="4544568"/>
            <a:ext cx="17053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B"/>
                </a:solidFill>
              </a:rPr>
              <a:t>Respuesta ante
dudas del lead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04204" y="3566160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76772" y="3538728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0160">
            <a:solidFill>
              <a:srgbClr val="1D4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6772" y="3538728"/>
            <a:ext cx="1796796" cy="201168"/>
          </a:xfrm>
          <a:prstGeom prst="rect">
            <a:avLst/>
          </a:prstGeom>
          <a:solidFill>
            <a:srgbClr val="1D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59068" y="3776472"/>
            <a:ext cx="1796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9AFF"/>
                </a:solidFill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59068" y="4069080"/>
            <a:ext cx="17053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F4FF"/>
                </a:solidFill>
              </a:rPr>
              <a:t>Cierre
de Venta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59068" y="4544568"/>
            <a:ext cx="17053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B"/>
                </a:solidFill>
              </a:rPr>
              <a:t>Técnicas y
momento de cierre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65592" y="3566160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8138160" y="3538728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0160">
            <a:solidFill>
              <a:srgbClr val="09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3538728"/>
            <a:ext cx="1796796" cy="201168"/>
          </a:xfrm>
          <a:prstGeom prst="rect">
            <a:avLst/>
          </a:prstGeom>
          <a:solidFill>
            <a:srgbClr val="09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0456" y="3776472"/>
            <a:ext cx="1796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18A"/>
                </a:solidFill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0456" y="4069080"/>
            <a:ext cx="17053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F4FF"/>
                </a:solidFill>
              </a:rPr>
              <a:t>Propuesta
de Valor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0456" y="4544568"/>
            <a:ext cx="17053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B"/>
                </a:solidFill>
              </a:rPr>
              <a:t>Diferenciación
y argumentario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126980" y="3566160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099548" y="3538728"/>
            <a:ext cx="1796796" cy="1417320"/>
          </a:xfrm>
          <a:prstGeom prst="roundRect">
            <a:avLst>
              <a:gd name="adj" fmla="val 4000"/>
            </a:avLst>
          </a:prstGeom>
          <a:solidFill>
            <a:srgbClr val="171D2E"/>
          </a:solidFill>
          <a:ln w="10160">
            <a:solidFill>
              <a:srgbClr val="8B2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99548" y="3538728"/>
            <a:ext cx="1796796" cy="201168"/>
          </a:xfrm>
          <a:prstGeom prst="rect">
            <a:avLst/>
          </a:prstGeom>
          <a:solidFill>
            <a:srgbClr val="8B2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81844" y="3776472"/>
            <a:ext cx="17967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70C0"/>
                </a:solidFill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181844" y="4069080"/>
            <a:ext cx="17053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F4FF"/>
                </a:solidFill>
              </a:rPr>
              <a:t>Estilo de
Comunicacion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81844" y="4544568"/>
            <a:ext cx="17053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9BBB"/>
                </a:solidFill>
              </a:rPr>
              <a:t>Empatía, ritmo
y lenguaje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608" y="497433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CEBB"/>
                </a:solidFill>
              </a:rPr>
              <a:t>RESULTADO POR BLOQUE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2608" y="5212080"/>
            <a:ext cx="11603736" cy="18288"/>
          </a:xfrm>
          <a:prstGeom prst="rect">
            <a:avLst/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29184" y="5266944"/>
            <a:ext cx="3697224" cy="804672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92608" y="5230368"/>
            <a:ext cx="3697224" cy="804672"/>
          </a:xfrm>
          <a:prstGeom prst="roundRect">
            <a:avLst>
              <a:gd name="adj" fmla="val 4000"/>
            </a:avLst>
          </a:prstGeom>
          <a:solidFill>
            <a:srgbClr val="097A55"/>
          </a:solidFill>
          <a:ln w="7620">
            <a:solidFill>
              <a:srgbClr val="2ED1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3776" y="5303520"/>
            <a:ext cx="1294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4FF"/>
                </a:solidFill>
              </a:rPr>
              <a:t>BUENO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87804" y="5303520"/>
            <a:ext cx="22183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El asesor domina esta habilidad.
Desempeño consistente y efectivo.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82440" y="5266944"/>
            <a:ext cx="3697224" cy="804672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245864" y="5230368"/>
            <a:ext cx="3697224" cy="804672"/>
          </a:xfrm>
          <a:prstGeom prst="roundRect">
            <a:avLst>
              <a:gd name="adj" fmla="val 4000"/>
            </a:avLst>
          </a:prstGeom>
          <a:solidFill>
            <a:srgbClr val="C87008"/>
          </a:solidFill>
          <a:ln w="762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47032" y="5303520"/>
            <a:ext cx="1294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4FF"/>
                </a:solidFill>
              </a:rPr>
              <a:t>MEJORABLE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41060" y="5303520"/>
            <a:ext cx="22183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Hay oportunidades claras de mejora.
Requiere coaching focalizado.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35696" y="5266944"/>
            <a:ext cx="3697224" cy="804672"/>
          </a:xfrm>
          <a:prstGeom prst="roundRect">
            <a:avLst>
              <a:gd name="adj" fmla="val 4000"/>
            </a:avLst>
          </a:prstGeom>
          <a:solidFill>
            <a:srgbClr val="1E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199120" y="5230368"/>
            <a:ext cx="3697224" cy="804672"/>
          </a:xfrm>
          <a:prstGeom prst="roundRect">
            <a:avLst>
              <a:gd name="adj" fmla="val 4000"/>
            </a:avLst>
          </a:prstGeom>
          <a:solidFill>
            <a:srgbClr val="A81C1C"/>
          </a:solidFill>
          <a:ln w="7620">
            <a:solidFill>
              <a:srgbClr val="F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00288" y="5303520"/>
            <a:ext cx="12940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4FF"/>
                </a:solidFill>
              </a:rPr>
              <a:t>MALO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94316" y="5303520"/>
            <a:ext cx="221833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Desempeño insuficiente.
Acción formativa urgente recomendada.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7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2608" y="662940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A5A75"/>
                </a:solidFill>
              </a:rPr>
              <a:t>Proyecto Centauro  |  Grupo Planeta  |  2026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58400" y="662940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4A5A75"/>
                </a:solidFill>
              </a:rPr>
              <a:t>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2BD1A1B5CAC249A95BCCCA1576DD25" ma:contentTypeVersion="15" ma:contentTypeDescription="Crear nuevo documento." ma:contentTypeScope="" ma:versionID="e7f576afb137e09b84b3a9dd4651f92f">
  <xsd:schema xmlns:xsd="http://www.w3.org/2001/XMLSchema" xmlns:xs="http://www.w3.org/2001/XMLSchema" xmlns:p="http://schemas.microsoft.com/office/2006/metadata/properties" xmlns:ns2="e4f8e1ef-7590-4615-a0b0-41d92864fb7e" xmlns:ns3="396b9688-3d64-4f4f-b40d-59fd809f50b1" targetNamespace="http://schemas.microsoft.com/office/2006/metadata/properties" ma:root="true" ma:fieldsID="81da8bc2beca58c86a5d31f30ec09267" ns2:_="" ns3:_="">
    <xsd:import namespace="e4f8e1ef-7590-4615-a0b0-41d92864fb7e"/>
    <xsd:import namespace="396b9688-3d64-4f4f-b40d-59fd809f50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8e1ef-7590-4615-a0b0-41d92864fb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0e055066-1d0b-4836-b0e5-54071a0012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6b9688-3d64-4f4f-b40d-59fd809f50b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2bc5e357-ab1f-46ac-95c6-94fe6785f860}" ma:internalName="TaxCatchAll" ma:showField="CatchAllData" ma:web="396b9688-3d64-4f4f-b40d-59fd809f50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f8e1ef-7590-4615-a0b0-41d92864fb7e">
      <Terms xmlns="http://schemas.microsoft.com/office/infopath/2007/PartnerControls"/>
    </lcf76f155ced4ddcb4097134ff3c332f>
    <TaxCatchAll xmlns="396b9688-3d64-4f4f-b40d-59fd809f50b1" xsi:nil="true"/>
  </documentManagement>
</p:properties>
</file>

<file path=customXml/itemProps1.xml><?xml version="1.0" encoding="utf-8"?>
<ds:datastoreItem xmlns:ds="http://schemas.openxmlformats.org/officeDocument/2006/customXml" ds:itemID="{74A9A5DD-64F9-43F1-B94F-7F2030B60862}"/>
</file>

<file path=customXml/itemProps2.xml><?xml version="1.0" encoding="utf-8"?>
<ds:datastoreItem xmlns:ds="http://schemas.openxmlformats.org/officeDocument/2006/customXml" ds:itemID="{0100FBF6-DA13-48BB-B3BE-F3F9BBD85B3C}"/>
</file>

<file path=customXml/itemProps3.xml><?xml version="1.0" encoding="utf-8"?>
<ds:datastoreItem xmlns:ds="http://schemas.openxmlformats.org/officeDocument/2006/customXml" ds:itemID="{8890F277-695C-430D-A190-D3E51D27127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0x010100A62BD1A1B5CAC249A95BCCCA1576DD25</vt:lpwstr>
  </property>
</Properties>
</file>