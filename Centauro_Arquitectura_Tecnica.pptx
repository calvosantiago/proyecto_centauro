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9" r:id="rId7"/>
    <p:sldId id="260" r:id="rId8"/>
    <p:sldId id="261" r:id="rId9"/>
    <p:sldId id="262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ago Calvo Prieto" userId="23b50df7-8b36-4492-8ab1-5009613690c3" providerId="ADAL" clId="{AD3D59D9-A9AF-429F-BBD3-F57A4F8E642B}"/>
    <pc:docChg chg="delSld modSld">
      <pc:chgData name="Santiago Calvo Prieto" userId="23b50df7-8b36-4492-8ab1-5009613690c3" providerId="ADAL" clId="{AD3D59D9-A9AF-429F-BBD3-F57A4F8E642B}" dt="2026-04-22T14:21:26.140" v="13" actId="20577"/>
      <pc:docMkLst>
        <pc:docMk/>
      </pc:docMkLst>
      <pc:sldChg chg="modSp mod">
        <pc:chgData name="Santiago Calvo Prieto" userId="23b50df7-8b36-4492-8ab1-5009613690c3" providerId="ADAL" clId="{AD3D59D9-A9AF-429F-BBD3-F57A4F8E642B}" dt="2026-04-22T14:17:21.812" v="6" actId="20577"/>
        <pc:sldMkLst>
          <pc:docMk/>
          <pc:sldMk cId="0" sldId="257"/>
        </pc:sldMkLst>
        <pc:spChg chg="mod">
          <ac:chgData name="Santiago Calvo Prieto" userId="23b50df7-8b36-4492-8ab1-5009613690c3" providerId="ADAL" clId="{AD3D59D9-A9AF-429F-BBD3-F57A4F8E642B}" dt="2026-04-22T14:17:21.812" v="6" actId="20577"/>
          <ac:spMkLst>
            <pc:docMk/>
            <pc:sldMk cId="0" sldId="257"/>
            <ac:spMk id="42" creationId="{00000000-0000-0000-0000-000000000000}"/>
          </ac:spMkLst>
        </pc:spChg>
      </pc:sldChg>
      <pc:sldChg chg="del">
        <pc:chgData name="Santiago Calvo Prieto" userId="23b50df7-8b36-4492-8ab1-5009613690c3" providerId="ADAL" clId="{AD3D59D9-A9AF-429F-BBD3-F57A4F8E642B}" dt="2026-04-22T14:17:42.123" v="7" actId="2696"/>
        <pc:sldMkLst>
          <pc:docMk/>
          <pc:sldMk cId="0" sldId="258"/>
        </pc:sldMkLst>
      </pc:sldChg>
      <pc:sldChg chg="modSp mod">
        <pc:chgData name="Santiago Calvo Prieto" userId="23b50df7-8b36-4492-8ab1-5009613690c3" providerId="ADAL" clId="{AD3D59D9-A9AF-429F-BBD3-F57A4F8E642B}" dt="2026-04-22T14:18:26.981" v="10" actId="20577"/>
        <pc:sldMkLst>
          <pc:docMk/>
          <pc:sldMk cId="0" sldId="262"/>
        </pc:sldMkLst>
        <pc:spChg chg="mod">
          <ac:chgData name="Santiago Calvo Prieto" userId="23b50df7-8b36-4492-8ab1-5009613690c3" providerId="ADAL" clId="{AD3D59D9-A9AF-429F-BBD3-F57A4F8E642B}" dt="2026-04-22T14:18:24.157" v="9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22T14:18:20.197" v="8" actId="20577"/>
          <ac:spMkLst>
            <pc:docMk/>
            <pc:sldMk cId="0" sldId="262"/>
            <ac:spMk id="22" creationId="{00000000-0000-0000-0000-000000000000}"/>
          </ac:spMkLst>
        </pc:spChg>
        <pc:spChg chg="mod">
          <ac:chgData name="Santiago Calvo Prieto" userId="23b50df7-8b36-4492-8ab1-5009613690c3" providerId="ADAL" clId="{AD3D59D9-A9AF-429F-BBD3-F57A4F8E642B}" dt="2026-04-22T14:18:26.981" v="10" actId="20577"/>
          <ac:spMkLst>
            <pc:docMk/>
            <pc:sldMk cId="0" sldId="262"/>
            <ac:spMk id="33" creationId="{00000000-0000-0000-0000-000000000000}"/>
          </ac:spMkLst>
        </pc:spChg>
      </pc:sldChg>
      <pc:sldChg chg="del">
        <pc:chgData name="Santiago Calvo Prieto" userId="23b50df7-8b36-4492-8ab1-5009613690c3" providerId="ADAL" clId="{AD3D59D9-A9AF-429F-BBD3-F57A4F8E642B}" dt="2026-04-22T14:21:09.053" v="11" actId="47"/>
        <pc:sldMkLst>
          <pc:docMk/>
          <pc:sldMk cId="0" sldId="263"/>
        </pc:sldMkLst>
      </pc:sldChg>
      <pc:sldChg chg="modSp mod">
        <pc:chgData name="Santiago Calvo Prieto" userId="23b50df7-8b36-4492-8ab1-5009613690c3" providerId="ADAL" clId="{AD3D59D9-A9AF-429F-BBD3-F57A4F8E642B}" dt="2026-04-22T14:21:26.140" v="13" actId="20577"/>
        <pc:sldMkLst>
          <pc:docMk/>
          <pc:sldMk cId="0" sldId="264"/>
        </pc:sldMkLst>
        <pc:spChg chg="mod">
          <ac:chgData name="Santiago Calvo Prieto" userId="23b50df7-8b36-4492-8ab1-5009613690c3" providerId="ADAL" clId="{AD3D59D9-A9AF-429F-BBD3-F57A4F8E642B}" dt="2026-04-22T14:21:26.140" v="13" actId="20577"/>
          <ac:spMkLst>
            <pc:docMk/>
            <pc:sldMk cId="0" sldId="264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9728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64008" cy="23774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CENTAURO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Evaluación Inteligente de Ventas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Técnica · Pipeline Completo · Modelos LLM · Seguridad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3200400"/>
            <a:ext cx="182880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77240" y="32278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77240" y="3822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3200400"/>
            <a:ext cx="182880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788920" y="32278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788920" y="3822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Colecciones RAG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3200400"/>
            <a:ext cx="182880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800600" y="32278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800600" y="3822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LLM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3200400"/>
            <a:ext cx="182880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812280" y="32278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812280" y="3822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Seguridad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DC3"/>
                </a:solidFill>
              </a:rPr>
              <a:t>OBS Business School · BI Team · Abril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COMPLETO · De la grabación al reporte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4592" y="914400"/>
            <a:ext cx="1298448" cy="1417320"/>
          </a:xfrm>
          <a:prstGeom prst="rect">
            <a:avLst/>
          </a:prstGeom>
          <a:solidFill>
            <a:srgbClr val="1A3A8C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64592" y="96012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MP4/MP3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" y="164592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inputs/audios/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Chainlit upload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481328" y="14630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DC3"/>
                </a:solidFill>
              </a:rPr>
              <a:t>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45920" y="914400"/>
            <a:ext cx="1298448" cy="1417320"/>
          </a:xfrm>
          <a:prstGeom prst="rect">
            <a:avLst/>
          </a:prstGeom>
          <a:solidFill>
            <a:srgbClr val="1A6B4A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645920" y="96012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ASSEMBLY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45920" y="164592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universal-3-pro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Diarización nativa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62656" y="14630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DC3"/>
                </a:solidFill>
              </a:rPr>
              <a:t>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27248" y="914400"/>
            <a:ext cx="1298448" cy="1417320"/>
          </a:xfrm>
          <a:prstGeom prst="rect">
            <a:avLst/>
          </a:prstGeom>
          <a:solidFill>
            <a:srgbClr val="5A2A8B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127248" y="96012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DIARI-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ZACIÓN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27248" y="164592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DiarizationAgent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vs LEAD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443984" y="14630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DC3"/>
                </a:solidFill>
              </a:rPr>
              <a:t>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08576" y="914400"/>
            <a:ext cx="1298448" cy="1417320"/>
          </a:xfrm>
          <a:prstGeom prst="rect">
            <a:avLst/>
          </a:prstGeom>
          <a:solidFill>
            <a:srgbClr val="7A4000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608576" y="96012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ANÁLISIS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08576" y="164592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+ Lead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25312" y="14630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DC3"/>
                </a:solidFill>
              </a:rPr>
              <a:t>▶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89904" y="914400"/>
            <a:ext cx="1298448" cy="1417320"/>
          </a:xfrm>
          <a:prstGeom prst="rect">
            <a:avLst/>
          </a:prstGeom>
          <a:solidFill>
            <a:srgbClr val="8B0000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089904" y="96012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AGENTES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9904" y="164592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gpt-5-mini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 4+2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406640" y="14630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DC3"/>
                </a:solidFill>
              </a:rPr>
              <a:t>▶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571232" y="914400"/>
            <a:ext cx="1298448" cy="1417320"/>
          </a:xfrm>
          <a:prstGeom prst="rect">
            <a:avLst/>
          </a:prstGeom>
          <a:solidFill>
            <a:srgbClr val="005A8B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7571232" y="96012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PDF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71232" y="164592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FPDF · Supabase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ModernReport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4320" y="2487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DE SOPORTE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64592" y="2788920"/>
            <a:ext cx="2057400" cy="1005840"/>
          </a:xfrm>
          <a:prstGeom prst="rect">
            <a:avLst/>
          </a:prstGeom>
          <a:solidFill>
            <a:srgbClr val="0D2A5A"/>
          </a:solidFill>
          <a:ln w="6350">
            <a:solidFill>
              <a:srgbClr val="8B9DC3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164592" y="28163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ChromaDB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64592" y="3145536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colecciones vectoriales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386584" y="2788920"/>
            <a:ext cx="2057400" cy="1005840"/>
          </a:xfrm>
          <a:prstGeom prst="rect">
            <a:avLst/>
          </a:prstGeom>
          <a:solidFill>
            <a:srgbClr val="0D4A2A"/>
          </a:solidFill>
          <a:ln w="6350">
            <a:solidFill>
              <a:srgbClr val="8B9DC3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2386584" y="28163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86584" y="3145536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Asesores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· Auth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08576" y="2788920"/>
            <a:ext cx="2057400" cy="1005840"/>
          </a:xfrm>
          <a:prstGeom prst="rect">
            <a:avLst/>
          </a:prstGeom>
          <a:solidFill>
            <a:srgbClr val="4A2A00"/>
          </a:solidFill>
          <a:ln w="6350">
            <a:solidFill>
              <a:srgbClr val="8B9DC3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4608576" y="28163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Sheriff Anti-Alucinación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08576" y="3145536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rapidfuzz 85%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evidencias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30568" y="2788920"/>
            <a:ext cx="2057400" cy="1005840"/>
          </a:xfrm>
          <a:prstGeom prst="rect">
            <a:avLst/>
          </a:prstGeom>
          <a:solidFill>
            <a:srgbClr val="2A0A4A"/>
          </a:solidFill>
          <a:ln w="6350">
            <a:solidFill>
              <a:srgbClr val="8B9DC3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6830568" y="28163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· Costes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30568" y="3145536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 · PBKDF2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control_gastos.csv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64592" y="3931920"/>
            <a:ext cx="8796528" cy="749808"/>
          </a:xfrm>
          <a:prstGeom prst="rect">
            <a:avLst/>
          </a:prstGeom>
          <a:solidFill>
            <a:srgbClr val="0A1E12"/>
          </a:solidFill>
          <a:ln w="127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292608" y="3950208"/>
            <a:ext cx="8558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HÍBRIDO: </a:t>
            </a:r>
            <a:r>
              <a:rPr lang="en-US" sz="10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agentes críticos (individual, máx. calidad) + 2 en batch (1 llamada = PropuestaValor+Estilo)
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C3"/>
                </a:solidFill>
              </a:rPr>
              <a:t>CENTAURO · Arquitectura Técnica · OBS Business School · BI Team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· SISTEMA RAG · ChromaDB + OpenAI Embeddings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697480" cy="1298448"/>
          </a:xfrm>
          <a:prstGeom prst="rect">
            <a:avLst/>
          </a:prstGeom>
          <a:solidFill>
            <a:srgbClr val="1E3A5F"/>
          </a:solidFill>
          <a:ln w="9525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9875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manuales_generales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140817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formación en ventas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697480" cy="1298448"/>
          </a:xfrm>
          <a:prstGeom prst="rect">
            <a:avLst/>
          </a:prstGeom>
          <a:solidFill>
            <a:srgbClr val="1A5A2A"/>
          </a:solidFill>
          <a:ln w="9525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200400" y="9875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buenas_practicas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0" y="140817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 de entrevistas (sin chunking)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697480" cy="1298448"/>
          </a:xfrm>
          <a:prstGeom prst="rect">
            <a:avLst/>
          </a:prstGeom>
          <a:solidFill>
            <a:srgbClr val="4A1A5A"/>
          </a:solidFill>
          <a:ln w="9525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126480" y="9875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coaching_ventas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26480" y="140817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 y técnicas de venta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2697480" cy="1298448"/>
          </a:xfrm>
          <a:prstGeom prst="rect">
            <a:avLst/>
          </a:prstGeom>
          <a:solidFill>
            <a:srgbClr val="5A3A0A"/>
          </a:solidFill>
          <a:ln w="9525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274320" y="245059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evaluaciones_historicas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" y="287121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evaluaciones pasadas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2377440"/>
            <a:ext cx="2697480" cy="1298448"/>
          </a:xfrm>
          <a:prstGeom prst="rect">
            <a:avLst/>
          </a:prstGeom>
          <a:solidFill>
            <a:srgbClr val="0A3A5A"/>
          </a:solidFill>
          <a:ln w="9525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200400" y="245059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dossiers_programas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00400" y="287121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de programas OBS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2377440"/>
            <a:ext cx="2697480" cy="1298448"/>
          </a:xfrm>
          <a:prstGeom prst="rect">
            <a:avLst/>
          </a:prstGeom>
          <a:solidFill>
            <a:srgbClr val="5A0A1A"/>
          </a:solidFill>
          <a:ln w="9525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126480" y="245059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diccionario_datos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26480" y="287121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semántico Power BI (sin chunking)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950208"/>
            <a:ext cx="8595360" cy="749808"/>
          </a:xfrm>
          <a:prstGeom prst="rect">
            <a:avLst/>
          </a:prstGeom>
          <a:solidFill>
            <a:srgbClr val="1A2F4A"/>
          </a:solidFill>
          <a:ln w="6350">
            <a:solidFill>
              <a:srgbClr val="8B9DC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57200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chars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92808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892808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chars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28416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general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28416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frags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64024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buenas práct.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64024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ejemplos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99632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coaching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99632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 libros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635240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63524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text-emb-3-small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C3"/>
                </a:solidFill>
              </a:rPr>
              <a:t>CENTAURO · Arquitectura Técnica · OBS Business School · BI Team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02b · CÓMO FUNCIONA EL RAG · Flujo detallado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4592" y="914400"/>
            <a:ext cx="1298448" cy="1298448"/>
          </a:xfrm>
          <a:prstGeom prst="rect">
            <a:avLst/>
          </a:prstGeom>
          <a:solidFill>
            <a:srgbClr val="1E3A5F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64592" y="914400"/>
            <a:ext cx="1298448" cy="274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64592" y="914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" y="120700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4592" y="1682496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query_base_map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bloque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81328" y="1435608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DC3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0" y="914400"/>
            <a:ext cx="1298448" cy="1298448"/>
          </a:xfrm>
          <a:prstGeom prst="rect">
            <a:avLst/>
          </a:prstGeom>
          <a:solidFill>
            <a:srgbClr val="2A1A3A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1645920" y="914400"/>
            <a:ext cx="1298448" cy="274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1645920" y="914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45920" y="120700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llamada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45920" y="1682496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extrae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temas+objeciones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962656" y="1435608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DC3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27248" y="914400"/>
            <a:ext cx="1298448" cy="1298448"/>
          </a:xfrm>
          <a:prstGeom prst="rect">
            <a:avLst/>
          </a:prstGeom>
          <a:solidFill>
            <a:srgbClr val="0A2A1A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127248" y="914400"/>
            <a:ext cx="1298448" cy="274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127248" y="914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27248" y="120700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enriquecida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27248" y="1682496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temas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objeciones detectadas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43984" y="1435608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DC3"/>
                </a:solidFill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08576" y="914400"/>
            <a:ext cx="1298448" cy="1298448"/>
          </a:xfrm>
          <a:prstGeom prst="rect">
            <a:avLst/>
          </a:prstGeom>
          <a:solidFill>
            <a:srgbClr val="3A1A0A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4608576" y="914400"/>
            <a:ext cx="1298448" cy="274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608576" y="914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08576" y="120700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08576" y="1682496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25312" y="1435608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DC3"/>
                </a:solidFill>
              </a:rPr>
              <a:t>▶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89904" y="914400"/>
            <a:ext cx="1298448" cy="1298448"/>
          </a:xfrm>
          <a:prstGeom prst="rect">
            <a:avLst/>
          </a:prstGeom>
          <a:solidFill>
            <a:srgbClr val="2A0A2A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6089904" y="914400"/>
            <a:ext cx="1298448" cy="274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6089904" y="914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089904" y="120700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9904" y="1682496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0.3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frag/libro coaching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406640" y="1435608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DC3"/>
                </a:solidFill>
              </a:rPr>
              <a:t>▶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571232" y="914400"/>
            <a:ext cx="1298448" cy="1298448"/>
          </a:xfrm>
          <a:prstGeom prst="rect">
            <a:avLst/>
          </a:prstGeom>
          <a:solidFill>
            <a:srgbClr val="0A1A3A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7571232" y="914400"/>
            <a:ext cx="1298448" cy="274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7571232" y="914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571232" y="120700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agente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571232" y="1682496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manuales + coaching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buenas prácts.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" y="2359152"/>
            <a:ext cx="3977640" cy="2359152"/>
          </a:xfrm>
          <a:prstGeom prst="rect">
            <a:avLst/>
          </a:prstGeom>
          <a:solidFill>
            <a:srgbClr val="112240"/>
          </a:solidFill>
          <a:ln w="9525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274320" y="2359152"/>
            <a:ext cx="3977640" cy="320040"/>
          </a:xfrm>
          <a:prstGeom prst="rect">
            <a:avLst/>
          </a:prstGeom>
          <a:solidFill>
            <a:srgbClr val="0D2A5A"/>
          </a:solidFill>
          <a:ln w="12700">
            <a:solidFill>
              <a:srgbClr val="0D2A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320040" y="23591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BASE POR BLOQUE (query_base_map)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84048" y="27432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Investigación: </a:t>
            </a: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saludo rapport preguntas descubrimiento motivaciones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84048" y="30632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Valor: </a:t>
            </a: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programa propuesta valor beneficios institución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84048" y="33832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Admisión Económica: </a:t>
            </a: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 precio inversión financiación propuesta económica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84048" y="37033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Objeciones: </a:t>
            </a: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objeciones rebatir validar técnicas resolver dudas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84048" y="4023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Próx. Pasos: </a:t>
            </a: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compromiso siguiente paso fecha matrícula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84048" y="43434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y Comunicación: </a:t>
            </a: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tono empatía comunicación efectiva escucha activa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26280" y="2359152"/>
            <a:ext cx="4343400" cy="2359152"/>
          </a:xfrm>
          <a:prstGeom prst="rect">
            <a:avLst/>
          </a:prstGeom>
          <a:solidFill>
            <a:srgbClr val="112240"/>
          </a:solidFill>
          <a:ln w="9525">
            <a:solidFill>
              <a:srgbClr val="48BB78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4526280" y="2359152"/>
            <a:ext cx="4343400" cy="320040"/>
          </a:xfrm>
          <a:prstGeom prst="rect">
            <a:avLst/>
          </a:prstGeom>
          <a:solidFill>
            <a:srgbClr val="0A3A1A"/>
          </a:solidFill>
          <a:ln w="12700">
            <a:solidFill>
              <a:srgbClr val="0A3A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4572000" y="235915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ESPECIAL · buenas_practicas + muestreo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617720" y="276148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617720" y="300837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Filtradas por nombre_bloque del agente (filtro_seccion)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sin filtro si no hay ejemplos para esa sección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Indexadas SIN chunking (ejemplo completo, ~max 2000 chars)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617720" y="341985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(diversidad)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617720" y="366674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piden 12 resultados pero se toma MAX 1 por libro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sesgo hacia un único libro (ej: SPIN Selling siempre 1º)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Máx. 3 libros distintos en el prompt final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617720" y="407822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Muestreo inteligente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617720" y="432511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12K chars → 6 muestras (~19K total)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6K-12K chars → 4 muestras (~12K total)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6K chars → transcripción completa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C3"/>
                </a:solidFill>
              </a:rPr>
              <a:t>CENTAURO · Arquitectura Técnica · OBS Business School · BI Team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· ORQUESTACIÓN MULTI-AGENTE · CentauroOrchestrator v3.0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77640" cy="566928"/>
          </a:xfrm>
          <a:prstGeom prst="rect">
            <a:avLst/>
          </a:prstGeom>
          <a:solidFill>
            <a:srgbClr val="4A0808"/>
          </a:solidFill>
          <a:ln w="12700">
            <a:solidFill>
              <a:srgbClr val="E53E3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594360" cy="5669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" y="95097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Redacción PII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121615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privacy.py · Email · DNI · NIE · IBAN · Teléfono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545336"/>
            <a:ext cx="3977640" cy="566928"/>
          </a:xfrm>
          <a:prstGeom prst="rect">
            <a:avLst/>
          </a:prstGeom>
          <a:solidFill>
            <a:srgbClr val="2A1A3A"/>
          </a:solidFill>
          <a:ln w="12700">
            <a:solidFill>
              <a:srgbClr val="CC8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74320" y="1545336"/>
            <a:ext cx="594360" cy="566928"/>
          </a:xfrm>
          <a:prstGeom prst="rect">
            <a:avLst/>
          </a:prstGeom>
          <a:solidFill>
            <a:srgbClr val="CC88FF"/>
          </a:solidFill>
          <a:ln w="12700">
            <a:solidFill>
              <a:srgbClr val="CC8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74320" y="1545336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15819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Diarización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688" y="184708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DiarizationAgent v2.3 · gpt-4o-mini · ASESOR vs LEAD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176272"/>
            <a:ext cx="3977640" cy="566928"/>
          </a:xfrm>
          <a:prstGeom prst="rect">
            <a:avLst/>
          </a:prstGeom>
          <a:solidFill>
            <a:srgbClr val="0A2A1A"/>
          </a:solidFill>
          <a:ln w="12700">
            <a:solidFill>
              <a:srgbClr val="48BB78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274320" y="2176272"/>
            <a:ext cx="594360" cy="566928"/>
          </a:xfrm>
          <a:prstGeom prst="rect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274320" y="217627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32688" y="22128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RAG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247802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(8 max) + Contexto Lead · gpt-4o-mini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807208"/>
            <a:ext cx="3977640" cy="566928"/>
          </a:xfrm>
          <a:prstGeom prst="rect">
            <a:avLst/>
          </a:prstGeom>
          <a:solidFill>
            <a:srgbClr val="3A0A0A"/>
          </a:solidFill>
          <a:ln w="12700">
            <a:solidFill>
              <a:srgbClr val="E53E3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274320" y="2807208"/>
            <a:ext cx="594360" cy="5669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274320" y="2807208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2688" y="284378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Evaluaciones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2688" y="310896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críticos individual + 2 batch · gpt-5-mini · ~14 calls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3438144"/>
            <a:ext cx="3977640" cy="566928"/>
          </a:xfrm>
          <a:prstGeom prst="rect">
            <a:avLst/>
          </a:prstGeom>
          <a:solidFill>
            <a:srgbClr val="3A2A0A"/>
          </a:solidFill>
          <a:ln w="12700">
            <a:solidFill>
              <a:srgbClr val="F6AD55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274320" y="3438144"/>
            <a:ext cx="594360" cy="566928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274320" y="3438144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32688" y="34747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Sheriff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2688" y="373989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rapidfuzz 85% · validación evidencias LLM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4069080"/>
            <a:ext cx="3977640" cy="566928"/>
          </a:xfrm>
          <a:prstGeom prst="rect">
            <a:avLst/>
          </a:prstGeom>
          <a:solidFill>
            <a:srgbClr val="0A1A3A"/>
          </a:solidFill>
          <a:ln w="1270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274320" y="4069080"/>
            <a:ext cx="594360" cy="56692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274320" y="406908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32688" y="41056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+ PDF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32688" y="43708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 Python (sin LLM) · FPDF report · Supabase write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480560" y="914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AGENTES DE EVALUACIÓN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80560" y="1234440"/>
            <a:ext cx="2103120" cy="1024128"/>
          </a:xfrm>
          <a:prstGeom prst="rect">
            <a:avLst/>
          </a:prstGeom>
          <a:solidFill>
            <a:srgbClr val="3A0A0A"/>
          </a:solidFill>
          <a:ln w="19050">
            <a:solidFill>
              <a:srgbClr val="E53E3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4480560" y="1234440"/>
            <a:ext cx="2103120" cy="3017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4480560" y="12527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InvestigaciónAgent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480560" y="1572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E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480560" y="18928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gpt-5-mini ★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720840" y="1234440"/>
            <a:ext cx="2103120" cy="1024128"/>
          </a:xfrm>
          <a:prstGeom prst="rect">
            <a:avLst/>
          </a:prstGeom>
          <a:solidFill>
            <a:srgbClr val="0A2A3A"/>
          </a:solidFill>
          <a:ln w="1905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6720840" y="1234440"/>
            <a:ext cx="2103120" cy="3017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6720840" y="12527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PropuestaValorAgent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720840" y="1572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E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20840" y="18928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gpt-5-mini [batch]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480560" y="2368296"/>
            <a:ext cx="2103120" cy="1024128"/>
          </a:xfrm>
          <a:prstGeom prst="rect">
            <a:avLst/>
          </a:prstGeom>
          <a:solidFill>
            <a:srgbClr val="3A0A0A"/>
          </a:solidFill>
          <a:ln w="19050">
            <a:solidFill>
              <a:srgbClr val="E53E3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7" name="Shape 45"/>
          <p:cNvSpPr/>
          <p:nvPr/>
        </p:nvSpPr>
        <p:spPr>
          <a:xfrm>
            <a:off x="4480560" y="2368296"/>
            <a:ext cx="2103120" cy="3017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4480560" y="23865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AdmisionEconAgent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480560" y="27066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E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Admisión Económica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480560" y="30266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gpt-5-mini ★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720840" y="2368296"/>
            <a:ext cx="2103120" cy="1024128"/>
          </a:xfrm>
          <a:prstGeom prst="rect">
            <a:avLst/>
          </a:prstGeom>
          <a:solidFill>
            <a:srgbClr val="0A2A3A"/>
          </a:solidFill>
          <a:ln w="19050">
            <a:solidFill>
              <a:srgbClr val="00C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6720840" y="2368296"/>
            <a:ext cx="2103120" cy="3017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6720840" y="23865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EstiloAgent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720840" y="27066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E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Comunicación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720840" y="30266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gpt-5-mini [batch]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480560" y="3502152"/>
            <a:ext cx="2103120" cy="1024128"/>
          </a:xfrm>
          <a:prstGeom prst="rect">
            <a:avLst/>
          </a:prstGeom>
          <a:solidFill>
            <a:srgbClr val="3A0A0A"/>
          </a:solidFill>
          <a:ln w="19050">
            <a:solidFill>
              <a:srgbClr val="E53E3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7" name="Shape 55"/>
          <p:cNvSpPr/>
          <p:nvPr/>
        </p:nvSpPr>
        <p:spPr>
          <a:xfrm>
            <a:off x="4480560" y="3502152"/>
            <a:ext cx="2103120" cy="3017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Text 56"/>
          <p:cNvSpPr/>
          <p:nvPr/>
        </p:nvSpPr>
        <p:spPr>
          <a:xfrm>
            <a:off x="4480560" y="3520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ObjecionesAgent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480560" y="3840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E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Objeciones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480560" y="4160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gpt-5-mini ★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720840" y="3502152"/>
            <a:ext cx="2103120" cy="1024128"/>
          </a:xfrm>
          <a:prstGeom prst="rect">
            <a:avLst/>
          </a:prstGeom>
          <a:solidFill>
            <a:srgbClr val="3A0A0A"/>
          </a:solidFill>
          <a:ln w="19050">
            <a:solidFill>
              <a:srgbClr val="E53E3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2" name="Shape 60"/>
          <p:cNvSpPr/>
          <p:nvPr/>
        </p:nvSpPr>
        <p:spPr>
          <a:xfrm>
            <a:off x="6720840" y="3502152"/>
            <a:ext cx="2103120" cy="3017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6720840" y="3520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CierreAgent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720840" y="3840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E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Prox. Pasos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720840" y="4160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gpt-5-mini ★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480560" y="4645152"/>
            <a:ext cx="4389120" cy="128016"/>
          </a:xfrm>
          <a:prstGeom prst="rect">
            <a:avLst/>
          </a:prstGeom>
          <a:solidFill>
            <a:srgbClr val="1A2F4A"/>
          </a:solidFill>
          <a:ln w="6350">
            <a:solidFill>
              <a:srgbClr val="8B9DC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7" name="Text 65"/>
          <p:cNvSpPr/>
          <p:nvPr/>
        </p:nvSpPr>
        <p:spPr>
          <a:xfrm>
            <a:off x="4526280" y="4645152"/>
            <a:ext cx="4297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Individual (máx. calidad)  </a:t>
            </a:r>
            <a:r>
              <a:rPr lang="en-US" sz="7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[batch] = 2 agentes / 1 llamada API · ~45% ahorro tokens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Text 6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C3"/>
                </a:solidFill>
              </a:rPr>
              <a:t>CENTAURO · Arquitectura Técnica · OBS Business School · BI Team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· MODELOS LLM · Qué hace cada uno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3611880"/>
          </a:xfrm>
          <a:prstGeom prst="rect">
            <a:avLst/>
          </a:prstGeom>
          <a:solidFill>
            <a:srgbClr val="8B0000"/>
          </a:solidFill>
          <a:ln w="19050">
            <a:solidFill>
              <a:srgbClr val="E53E3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43200" cy="5303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gpt-5-mini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2527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E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 Críticas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Coste: </a:t>
            </a:r>
            <a:r>
              <a:rPr lang="en-US" sz="9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$0.15 · Output $2.00 /1M tok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532888"/>
            <a:ext cx="2560320" cy="1828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65760" y="2606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InvestigaciónAgent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907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AdmisionEconAgent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2095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ObjecionesAgent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5112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CierreAgent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813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PropuestaValor+Estilo (batch)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18688" y="914400"/>
            <a:ext cx="2743200" cy="3611880"/>
          </a:xfrm>
          <a:prstGeom prst="rect">
            <a:avLst/>
          </a:prstGeom>
          <a:solidFill>
            <a:srgbClr val="00008B"/>
          </a:solidFill>
          <a:ln w="19050">
            <a:solidFill>
              <a:srgbClr val="4488FF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218688" y="914400"/>
            <a:ext cx="2743200" cy="530352"/>
          </a:xfrm>
          <a:prstGeom prst="rect">
            <a:avLst/>
          </a:prstGeom>
          <a:solidFill>
            <a:srgbClr val="4488FF"/>
          </a:solidFill>
          <a:ln w="12700">
            <a:solidFill>
              <a:srgbClr val="448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218688" y="932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gpt-4o-mini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18688" y="12527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18688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E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y Utilidades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0128" y="18288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Coste: </a:t>
            </a:r>
            <a:r>
              <a:rPr lang="en-US" sz="9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$0.075 · Output $0.60 /1M tok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10128" y="2532888"/>
            <a:ext cx="2560320" cy="18288"/>
          </a:xfrm>
          <a:prstGeom prst="rect">
            <a:avLst/>
          </a:prstGeom>
          <a:solidFill>
            <a:srgbClr val="4488FF"/>
          </a:solidFill>
          <a:ln w="12700">
            <a:solidFill>
              <a:srgbClr val="448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310128" y="2606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4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Diarización (classify+batch)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10128" y="2907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4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de temas RAG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10128" y="32095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4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contextual del lead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10128" y="35112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4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interactivo Chainlit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63056" y="914400"/>
            <a:ext cx="2743200" cy="3611880"/>
          </a:xfrm>
          <a:prstGeom prst="rect">
            <a:avLst/>
          </a:prstGeom>
          <a:solidFill>
            <a:srgbClr val="004A1A"/>
          </a:solidFill>
          <a:ln w="19050">
            <a:solidFill>
              <a:srgbClr val="48BB78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6163056" y="914400"/>
            <a:ext cx="2743200" cy="530352"/>
          </a:xfrm>
          <a:prstGeom prst="rect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6163056" y="932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text-emb-3-small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63056" y="12527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Embeddings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63056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E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Vectorial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54496" y="18288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b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Coste: </a:t>
            </a:r>
            <a:r>
              <a:rPr lang="en-US" sz="9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 / 1M tokens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54496" y="2532888"/>
            <a:ext cx="2560320" cy="18288"/>
          </a:xfrm>
          <a:prstGeom prst="rect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6254496" y="2606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Indexación 6 colecciones ChromaDB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54496" y="2907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semánticas RAG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54496" y="32095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buenas prácticas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54496" y="35112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coaching ventas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4590288"/>
            <a:ext cx="8595360" cy="182880"/>
          </a:xfrm>
          <a:prstGeom prst="rect">
            <a:avLst/>
          </a:prstGeom>
          <a:solidFill>
            <a:srgbClr val="1A5A2A"/>
          </a:solidFill>
          <a:ln w="127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274320" y="459028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AssemblyAI universal-3-pro · Transcripción + diarización nativa · $0.012/min  |  Groq Whisper · fallback si no hay ASSEMBLYAI_API_KEY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C3"/>
                </a:solidFill>
              </a:rPr>
              <a:t>CENTAURO · Arquitectura Técnica · OBS Business School · BI Team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· REPORTE FINAL PDF · </a:t>
            </a:r>
            <a:r>
              <a:rPr lang="en-US" sz="2100" b="1" kern="0" spc="2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FPDF 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Secciones del PDF generado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846320" cy="576072"/>
          </a:xfrm>
          <a:prstGeom prst="rect">
            <a:avLst/>
          </a:prstGeom>
          <a:solidFill>
            <a:srgbClr val="1E2A5A"/>
          </a:solidFill>
          <a:ln w="6350">
            <a:solidFill>
              <a:srgbClr val="8B9DC3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84048" y="12618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527048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CENTAURO AUDIT · Asesor · Archivo · Timestamp · Modelo V5.0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4846320" cy="576072"/>
          </a:xfrm>
          <a:prstGeom prst="rect">
            <a:avLst/>
          </a:prstGeom>
          <a:solidFill>
            <a:srgbClr val="1A3A1A"/>
          </a:solidFill>
          <a:ln w="6350">
            <a:solidFill>
              <a:srgbClr val="8B9DC3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84048" y="190195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Lead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167128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· Objetivo · Factor determinante · Barreras · Seguimiento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14600"/>
            <a:ext cx="4846320" cy="576072"/>
          </a:xfrm>
          <a:prstGeom prst="rect">
            <a:avLst/>
          </a:prstGeom>
          <a:solidFill>
            <a:srgbClr val="3A1A1A"/>
          </a:solidFill>
          <a:ln w="6350">
            <a:solidFill>
              <a:srgbClr val="8B9DC3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8404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Tarjetas Evaluación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2807208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· Calificación badge · Observabilidad · Confianza · Evidencias · Razonamiento · Recomendación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3154680"/>
            <a:ext cx="4846320" cy="576072"/>
          </a:xfrm>
          <a:prstGeom prst="rect">
            <a:avLst/>
          </a:prstGeom>
          <a:solidFill>
            <a:srgbClr val="2A1A3A"/>
          </a:solidFill>
          <a:ln w="6350">
            <a:solidFill>
              <a:srgbClr val="8B9DC3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84048" y="31821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Global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048" y="3447288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 global (mayoría) · Distribución MALO/MEJORABLE/BUENO · Áreas mejora · Notas Sheriff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794760"/>
            <a:ext cx="4846320" cy="576072"/>
          </a:xfrm>
          <a:prstGeom prst="rect">
            <a:avLst/>
          </a:prstGeom>
          <a:solidFill>
            <a:srgbClr val="1A1A2A"/>
          </a:solidFill>
          <a:ln w="6350">
            <a:solidFill>
              <a:srgbClr val="8B9DC3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84048" y="38221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4048" y="4087368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página · OBS Business School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94960" y="914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Calificación Ordinal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94960" y="1234440"/>
            <a:ext cx="3474720" cy="548640"/>
          </a:xfrm>
          <a:prstGeom prst="rect">
            <a:avLst/>
          </a:prstGeom>
          <a:solidFill>
            <a:srgbClr val="2A8A4A"/>
          </a:solidFill>
          <a:ln w="12700">
            <a:solidFill>
              <a:srgbClr val="2A8A4A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394960" y="12527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BUENO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15544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· Mayoría simple · Confianza alta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394960" y="1856232"/>
            <a:ext cx="3474720" cy="548640"/>
          </a:xfrm>
          <a:prstGeom prst="rect">
            <a:avLst/>
          </a:prstGeom>
          <a:solidFill>
            <a:srgbClr val="8A6A00"/>
          </a:solidFill>
          <a:ln w="12700">
            <a:solidFill>
              <a:srgbClr val="8A6A00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394960" y="18745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MEJORABLE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21762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Amarillo · Mayoría simple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394960" y="2478024"/>
            <a:ext cx="3474720" cy="548640"/>
          </a:xfrm>
          <a:prstGeom prst="rect">
            <a:avLst/>
          </a:prstGeom>
          <a:solidFill>
            <a:srgbClr val="8A1A1A"/>
          </a:solidFill>
          <a:ln w="12700">
            <a:solidFill>
              <a:srgbClr val="8A1A1A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5394960" y="24963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MALO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94960" y="27980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· Mayoría simple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94960" y="3099816"/>
            <a:ext cx="3474720" cy="5486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5394960" y="31181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OBSERVABLE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341985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 · Sin evidencia suficiente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94960" y="3749040"/>
            <a:ext cx="3474720" cy="658368"/>
          </a:xfrm>
          <a:prstGeom prst="rect">
            <a:avLst/>
          </a:prstGeom>
          <a:solidFill>
            <a:srgbClr val="3A2A00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486400" y="3776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Sheriff Penalty: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0" y="404164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&lt;30% verificable → baja automáticamente un nivel de calificación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4526280"/>
            <a:ext cx="8595360" cy="237744"/>
          </a:xfrm>
          <a:prstGeom prst="rect">
            <a:avLst/>
          </a:prstGeom>
          <a:solidFill>
            <a:srgbClr val="001A1A"/>
          </a:solidFill>
          <a:ln w="63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365760" y="452628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control_gastos.csv: timestamp · usuario · archivo · modelo · tokens prompt/cached/completion · coste USD — cada llamada API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C3"/>
                </a:solidFill>
              </a:rPr>
              <a:t>CENTAURO · Arquitectura Técnica · OBS Business School · BI Team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TÉCNICO COMPLETO</a:t>
            </a:r>
            <a:endParaRPr lang="en-US" sz="2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03920" cy="382219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Transcripción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AssemblyAI · universal-3-pro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MP4/MP3 → Texto + diarización nativa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Diarización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DiarizationAgent + gpt-4o-mini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Mapea Speaker_A/B → ASESOR/LEAD (7 formatos)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Evaluación crítica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gpt-5-mini (OpenAI)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bloques individuales · máx. calidad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Evaluación batch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gpt-5-mini · 1 call=2 agentes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PropuestaValor+Estilo · 45% tokens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Optimización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 + text-emb-3-small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colecciones · query dinámica por bloque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Conocimiento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datos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(PostgreSQL hosted)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Asesores · Evaluaciones · Oportunidades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PBKDF2-SHA256 · 260k iter.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Usuarios con roles · timing-attack safe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Privacidad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Regex PII redaction (Python)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Email, DNI, NIE, IBAN, Teléfono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Anti-alucinación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Sheriff + rapidfuzz 85%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 evidencias citadas por LLMs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features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librosa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 energy · BPM · silences → EstiloAgent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FPDF · ModernReport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con tarjetas · calificación ordinal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Chainlit + gpt-4o-mini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Consultas conversacionales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3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CRM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Automate → Supabase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Oportunidades Fabric→Supabase · diario 6am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C3"/>
                </a:solidFill>
              </a:rPr>
              <a:t>CENTAURO · Arquitectura Técnica · OBS Business School · BI Team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62BD1A1B5CAC249A95BCCCA1576DD25" ma:contentTypeVersion="15" ma:contentTypeDescription="Crear nuevo documento." ma:contentTypeScope="" ma:versionID="e7f576afb137e09b84b3a9dd4651f92f">
  <xsd:schema xmlns:xsd="http://www.w3.org/2001/XMLSchema" xmlns:xs="http://www.w3.org/2001/XMLSchema" xmlns:p="http://schemas.microsoft.com/office/2006/metadata/properties" xmlns:ns2="e4f8e1ef-7590-4615-a0b0-41d92864fb7e" xmlns:ns3="396b9688-3d64-4f4f-b40d-59fd809f50b1" targetNamespace="http://schemas.microsoft.com/office/2006/metadata/properties" ma:root="true" ma:fieldsID="81da8bc2beca58c86a5d31f30ec09267" ns2:_="" ns3:_="">
    <xsd:import namespace="e4f8e1ef-7590-4615-a0b0-41d92864fb7e"/>
    <xsd:import namespace="396b9688-3d64-4f4f-b40d-59fd809f50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f8e1ef-7590-4615-a0b0-41d92864fb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0e055066-1d0b-4836-b0e5-54071a0012a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6b9688-3d64-4f4f-b40d-59fd809f50b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2bc5e357-ab1f-46ac-95c6-94fe6785f860}" ma:internalName="TaxCatchAll" ma:showField="CatchAllData" ma:web="396b9688-3d64-4f4f-b40d-59fd809f50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4f8e1ef-7590-4615-a0b0-41d92864fb7e">
      <Terms xmlns="http://schemas.microsoft.com/office/infopath/2007/PartnerControls"/>
    </lcf76f155ced4ddcb4097134ff3c332f>
    <TaxCatchAll xmlns="396b9688-3d64-4f4f-b40d-59fd809f50b1" xsi:nil="true"/>
  </documentManagement>
</p:properties>
</file>

<file path=customXml/itemProps1.xml><?xml version="1.0" encoding="utf-8"?>
<ds:datastoreItem xmlns:ds="http://schemas.openxmlformats.org/officeDocument/2006/customXml" ds:itemID="{106B4801-8CE3-4FC0-8290-77720E935DAB}"/>
</file>

<file path=customXml/itemProps2.xml><?xml version="1.0" encoding="utf-8"?>
<ds:datastoreItem xmlns:ds="http://schemas.openxmlformats.org/officeDocument/2006/customXml" ds:itemID="{CDE06814-8C92-4B51-A046-32F119F12E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122D02-C625-4763-94BB-5EB671CA5116}">
  <ds:schemaRefs>
    <ds:schemaRef ds:uri="http://schemas.microsoft.com/office/2006/metadata/properties"/>
    <ds:schemaRef ds:uri="http://schemas.microsoft.com/office/infopath/2007/PartnerControls"/>
    <ds:schemaRef ds:uri="e4f8e1ef-7590-4615-a0b0-41d92864fb7e"/>
    <ds:schemaRef ds:uri="396b9688-3d64-4f4f-b40d-59fd809f50b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1201</Words>
  <Application>Microsoft Office PowerPoint</Application>
  <PresentationFormat>Presentación en pantalla (16:9)</PresentationFormat>
  <Paragraphs>299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Centauro - Arquitectura Técnica</dc:title>
  <dc:subject>PptxGenJS Presentation</dc:subject>
  <dc:creator>OBS Business School - BI Team</dc:creator>
  <cp:lastModifiedBy>Santiago Calvo Prieto</cp:lastModifiedBy>
  <cp:revision>1</cp:revision>
  <dcterms:created xsi:type="dcterms:W3CDTF">2026-04-22T09:14:03Z</dcterms:created>
  <dcterms:modified xsi:type="dcterms:W3CDTF">2026-04-22T14:21:26Z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0x010100A62BD1A1B5CAC249A95BCCCA1576DD25</vt:lpwstr>
  </property>
</Properties>
</file>